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91" y="12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chan lee" userId="220d499f22abee0c" providerId="LiveId" clId="{32A5A7FA-7E30-41AC-A79E-84EC1AC6FA4F}"/>
    <pc:docChg chg="modSld">
      <pc:chgData name="seungchan lee" userId="220d499f22abee0c" providerId="LiveId" clId="{32A5A7FA-7E30-41AC-A79E-84EC1AC6FA4F}" dt="2025-12-01T14:39:57.709" v="10" actId="14100"/>
      <pc:docMkLst>
        <pc:docMk/>
      </pc:docMkLst>
      <pc:sldChg chg="modSp mod">
        <pc:chgData name="seungchan lee" userId="220d499f22abee0c" providerId="LiveId" clId="{32A5A7FA-7E30-41AC-A79E-84EC1AC6FA4F}" dt="2025-12-01T14:39:16.498" v="3" actId="14100"/>
        <pc:sldMkLst>
          <pc:docMk/>
          <pc:sldMk cId="0" sldId="256"/>
        </pc:sldMkLst>
        <pc:spChg chg="mod">
          <ac:chgData name="seungchan lee" userId="220d499f22abee0c" providerId="LiveId" clId="{32A5A7FA-7E30-41AC-A79E-84EC1AC6FA4F}" dt="2025-12-01T14:39:13.881" v="2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eungchan lee" userId="220d499f22abee0c" providerId="LiveId" clId="{32A5A7FA-7E30-41AC-A79E-84EC1AC6FA4F}" dt="2025-12-01T14:39:16.498" v="3" actId="14100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eungchan lee" userId="220d499f22abee0c" providerId="LiveId" clId="{32A5A7FA-7E30-41AC-A79E-84EC1AC6FA4F}" dt="2025-12-01T14:39:07.659" v="1" actId="20577"/>
        <pc:sldMkLst>
          <pc:docMk/>
          <pc:sldMk cId="0" sldId="259"/>
        </pc:sldMkLst>
        <pc:spChg chg="mod">
          <ac:chgData name="seungchan lee" userId="220d499f22abee0c" providerId="LiveId" clId="{32A5A7FA-7E30-41AC-A79E-84EC1AC6FA4F}" dt="2025-12-01T14:39:07.659" v="1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seungchan lee" userId="220d499f22abee0c" providerId="LiveId" clId="{32A5A7FA-7E30-41AC-A79E-84EC1AC6FA4F}" dt="2025-12-01T14:39:57.709" v="10" actId="14100"/>
        <pc:sldMkLst>
          <pc:docMk/>
          <pc:sldMk cId="0" sldId="260"/>
        </pc:sldMkLst>
        <pc:spChg chg="mod">
          <ac:chgData name="seungchan lee" userId="220d499f22abee0c" providerId="LiveId" clId="{32A5A7FA-7E30-41AC-A79E-84EC1AC6FA4F}" dt="2025-12-01T14:39:54.484" v="9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seungchan lee" userId="220d499f22abee0c" providerId="LiveId" clId="{32A5A7FA-7E30-41AC-A79E-84EC1AC6FA4F}" dt="2025-12-01T14:39:57.709" v="10" actId="14100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seungchan lee" userId="220d499f22abee0c" providerId="LiveId" clId="{32A5A7FA-7E30-41AC-A79E-84EC1AC6FA4F}" dt="2025-12-01T14:39:31.626" v="5" actId="14100"/>
        <pc:sldMkLst>
          <pc:docMk/>
          <pc:sldMk cId="0" sldId="264"/>
        </pc:sldMkLst>
        <pc:spChg chg="mod">
          <ac:chgData name="seungchan lee" userId="220d499f22abee0c" providerId="LiveId" clId="{32A5A7FA-7E30-41AC-A79E-84EC1AC6FA4F}" dt="2025-12-01T14:39:28.920" v="4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seungchan lee" userId="220d499f22abee0c" providerId="LiveId" clId="{32A5A7FA-7E30-41AC-A79E-84EC1AC6FA4F}" dt="2025-12-01T14:39:31.626" v="5" actId="14100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seungchan lee" userId="220d499f22abee0c" providerId="LiveId" clId="{32A5A7FA-7E30-41AC-A79E-84EC1AC6FA4F}" dt="2025-12-01T14:39:39.991" v="8" actId="14100"/>
        <pc:sldMkLst>
          <pc:docMk/>
          <pc:sldMk cId="0" sldId="265"/>
        </pc:sldMkLst>
        <pc:spChg chg="mod">
          <ac:chgData name="seungchan lee" userId="220d499f22abee0c" providerId="LiveId" clId="{32A5A7FA-7E30-41AC-A79E-84EC1AC6FA4F}" dt="2025-12-01T14:39:35.446" v="6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seungchan lee" userId="220d499f22abee0c" providerId="LiveId" clId="{32A5A7FA-7E30-41AC-A79E-84EC1AC6FA4F}" dt="2025-12-01T14:39:37.839" v="7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seungchan lee" userId="220d499f22abee0c" providerId="LiveId" clId="{32A5A7FA-7E30-41AC-A79E-84EC1AC6FA4F}" dt="2025-12-01T14:39:39.991" v="8" actId="14100"/>
          <ac:spMkLst>
            <pc:docMk/>
            <pc:sldMk cId="0" sldId="265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40C4FF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40C4FF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8325" y="552322"/>
            <a:ext cx="5142230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8325" y="1633982"/>
            <a:ext cx="5212080" cy="183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40C4FF"/>
                </a:solidFill>
                <a:latin typeface="Source Han Sans KR"/>
                <a:cs typeface="Source Han Sans K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8325" y="1626951"/>
            <a:ext cx="453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40C4FF"/>
                </a:solidFill>
                <a:latin typeface="Source Han Sans KR"/>
                <a:cs typeface="Source Han Sans KR"/>
              </a:rPr>
              <a:t>소프트웨어</a:t>
            </a:r>
            <a:r>
              <a:rPr sz="2400" b="0" spc="-8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400" b="0" dirty="0">
                <a:solidFill>
                  <a:srgbClr val="40C4FF"/>
                </a:solidFill>
                <a:latin typeface="Source Han Sans KR"/>
                <a:cs typeface="Source Han Sans KR"/>
              </a:rPr>
              <a:t>프로젝트</a:t>
            </a:r>
            <a:r>
              <a:rPr sz="2400" b="0" spc="-8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400" b="0" dirty="0">
                <a:solidFill>
                  <a:srgbClr val="40C4FF"/>
                </a:solidFill>
                <a:latin typeface="Source Han Sans KR"/>
                <a:cs typeface="Source Han Sans KR"/>
              </a:rPr>
              <a:t>중간</a:t>
            </a:r>
            <a:r>
              <a:rPr sz="2400" b="0" spc="-8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400" b="0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보고서</a:t>
            </a:r>
            <a:endParaRPr sz="2400" dirty="0">
              <a:latin typeface="Source Han Sans KR"/>
              <a:cs typeface="Source Han Sans K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324" y="2673820"/>
            <a:ext cx="75850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3245" algn="l"/>
                <a:tab pos="3093085" algn="l"/>
                <a:tab pos="4353560" algn="l"/>
                <a:tab pos="6174105" algn="l"/>
              </a:tabLst>
            </a:pPr>
            <a:r>
              <a:rPr sz="48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실시간</a:t>
            </a:r>
            <a:r>
              <a:rPr sz="4800" b="1" dirty="0">
                <a:solidFill>
                  <a:srgbClr val="FFFFFF"/>
                </a:solidFill>
                <a:latin typeface="Source Han Sans KR"/>
                <a:cs typeface="Source Han Sans KR"/>
              </a:rPr>
              <a:t>	</a:t>
            </a:r>
            <a:r>
              <a:rPr sz="48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교통</a:t>
            </a:r>
            <a:r>
              <a:rPr sz="4800" b="1" dirty="0">
                <a:solidFill>
                  <a:srgbClr val="FFFFFF"/>
                </a:solidFill>
                <a:latin typeface="Source Han Sans KR"/>
                <a:cs typeface="Source Han Sans KR"/>
              </a:rPr>
              <a:t>	</a:t>
            </a:r>
            <a:r>
              <a:rPr sz="48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분석</a:t>
            </a:r>
            <a:r>
              <a:rPr sz="4800" b="1" dirty="0">
                <a:solidFill>
                  <a:srgbClr val="FFFFFF"/>
                </a:solidFill>
                <a:latin typeface="Source Han Sans KR"/>
                <a:cs typeface="Source Han Sans KR"/>
              </a:rPr>
              <a:t>	</a:t>
            </a:r>
            <a:r>
              <a:rPr sz="48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시스템</a:t>
            </a:r>
            <a:r>
              <a:rPr sz="4800" b="1" dirty="0">
                <a:solidFill>
                  <a:srgbClr val="FFFFFF"/>
                </a:solidFill>
                <a:latin typeface="Source Han Sans KR"/>
                <a:cs typeface="Source Han Sans KR"/>
              </a:rPr>
              <a:t>	</a:t>
            </a:r>
            <a:r>
              <a:rPr sz="4800" b="1" spc="-35" dirty="0">
                <a:solidFill>
                  <a:srgbClr val="FFFFFF"/>
                </a:solidFill>
                <a:latin typeface="Source Han Sans KR"/>
                <a:cs typeface="Source Han Sans KR"/>
              </a:rPr>
              <a:t>구현</a:t>
            </a:r>
            <a:endParaRPr sz="4800" dirty="0">
              <a:latin typeface="Source Han Sans KR"/>
              <a:cs typeface="Source Han Sans K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925" y="4449101"/>
            <a:ext cx="1787525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Source Han Sans KR"/>
                <a:cs typeface="Source Han Sans KR"/>
              </a:rPr>
              <a:t>20220832</a:t>
            </a:r>
            <a:r>
              <a:rPr sz="1800" b="1" spc="-95" dirty="0">
                <a:solidFill>
                  <a:srgbClr val="FFFFFF"/>
                </a:solidFill>
                <a:latin typeface="Source Han Sans KR"/>
                <a:cs typeface="Source Han Sans KR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이승찬</a:t>
            </a:r>
            <a:endParaRPr sz="180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2535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레벨: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고급</a:t>
            </a:r>
            <a:endParaRPr sz="1350">
              <a:latin typeface="Source Han Sans KR"/>
              <a:cs typeface="Source Han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3175" y="150900"/>
            <a:ext cx="12078970" cy="6707505"/>
            <a:chOff x="113175" y="150900"/>
            <a:chExt cx="12078970" cy="6707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75" y="150900"/>
              <a:ext cx="12078824" cy="67070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657350"/>
              <a:ext cx="5276849" cy="28612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4125" y="1657350"/>
              <a:ext cx="5276849" cy="268976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3600" y="2500757"/>
            <a:ext cx="4400550" cy="154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현재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진행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상태</a:t>
            </a:r>
            <a:endParaRPr sz="210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주요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기능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구현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85%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완료.</a:t>
            </a:r>
            <a:endParaRPr sz="135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915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핵심 교통 시뮬레이션 엔진 및 시각화 기능 정상 작동. 동적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경로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재계산 및</a:t>
            </a:r>
            <a:r>
              <a:rPr sz="1350" spc="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알고리즘(Dijkstra/A*)</a:t>
            </a:r>
            <a:r>
              <a:rPr sz="1350" spc="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비교 기능</a:t>
            </a:r>
            <a:r>
              <a:rPr sz="1350" spc="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구현</a:t>
            </a:r>
            <a:r>
              <a:rPr sz="1350" spc="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완료.</a:t>
            </a:r>
            <a:endParaRPr sz="1350">
              <a:latin typeface="Source Han Sans KR"/>
              <a:cs typeface="Source Han Sans KR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1025" y="1257300"/>
            <a:ext cx="11029950" cy="1076325"/>
            <a:chOff x="581025" y="1257300"/>
            <a:chExt cx="11029950" cy="10763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400" y="1952625"/>
              <a:ext cx="296464" cy="380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1025" y="1257300"/>
              <a:ext cx="11029950" cy="19050"/>
            </a:xfrm>
            <a:custGeom>
              <a:avLst/>
              <a:gdLst/>
              <a:ahLst/>
              <a:cxnLst/>
              <a:rect l="l" t="t" r="r" b="b"/>
              <a:pathLst>
                <a:path w="11029950" h="19050">
                  <a:moveTo>
                    <a:pt x="11029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19049"/>
                  </a:lnTo>
                  <a:close/>
                </a:path>
              </a:pathLst>
            </a:custGeom>
            <a:solidFill>
              <a:srgbClr val="40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16700" y="2500757"/>
            <a:ext cx="4553585" cy="109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주요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변경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사항</a:t>
            </a:r>
            <a:endParaRPr sz="210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735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프레임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기반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이동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방식을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Delta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Time이동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방식으로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전환,</a:t>
            </a:r>
            <a:r>
              <a:rPr sz="1350" spc="27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렌더링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안정성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확보.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40" dirty="0"/>
              <a:t> </a:t>
            </a:r>
            <a:r>
              <a:rPr dirty="0"/>
              <a:t>핵심</a:t>
            </a:r>
            <a:r>
              <a:rPr spc="-35" dirty="0"/>
              <a:t> </a:t>
            </a:r>
            <a:r>
              <a:rPr dirty="0"/>
              <a:t>요약</a:t>
            </a:r>
            <a:r>
              <a:rPr spc="-35" dirty="0"/>
              <a:t> </a:t>
            </a:r>
            <a:r>
              <a:rPr dirty="0"/>
              <a:t>및</a:t>
            </a:r>
            <a:r>
              <a:rPr spc="-35" dirty="0"/>
              <a:t> </a:t>
            </a:r>
            <a:r>
              <a:rPr spc="-25" dirty="0"/>
              <a:t>현황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683" y="2473119"/>
            <a:ext cx="370014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85%</a:t>
            </a:r>
            <a:endParaRPr sz="13500">
              <a:latin typeface="Source Han Sans KR"/>
              <a:cs typeface="Source Han Sans KR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8740" y="2345528"/>
            <a:ext cx="4773295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세부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구현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근거</a:t>
            </a:r>
            <a:endParaRPr sz="2100">
              <a:latin typeface="Source Han Sans KR"/>
              <a:cs typeface="Source Han Sans KR"/>
            </a:endParaRPr>
          </a:p>
          <a:p>
            <a:pPr marL="298450">
              <a:lnSpc>
                <a:spcPct val="100000"/>
              </a:lnSpc>
              <a:spcBef>
                <a:spcPts val="156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핵심</a:t>
            </a:r>
            <a:r>
              <a:rPr sz="1350" b="1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엔진</a:t>
            </a:r>
            <a:r>
              <a:rPr sz="1350" b="1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(100%):</a:t>
            </a:r>
            <a:r>
              <a:rPr sz="1350" b="1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Node/Edge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그래프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및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물리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로직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구현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완료.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4490" y="3602768"/>
            <a:ext cx="4204970" cy="170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시각화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(90%):</a:t>
            </a:r>
            <a:r>
              <a:rPr sz="1350" b="1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Compose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기반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맵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렌더링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및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제어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패널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연동</a:t>
            </a:r>
            <a:endParaRPr sz="135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완료.</a:t>
            </a:r>
            <a:endParaRPr sz="1350">
              <a:latin typeface="Source Han Sans KR"/>
              <a:cs typeface="Source Han Sans KR"/>
            </a:endParaRPr>
          </a:p>
          <a:p>
            <a:pPr marL="12700" marR="107950">
              <a:lnSpc>
                <a:spcPct val="160000"/>
              </a:lnSpc>
              <a:spcBef>
                <a:spcPts val="635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최적화/안정성</a:t>
            </a:r>
            <a:r>
              <a:rPr sz="1350" b="1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(80%):</a:t>
            </a:r>
            <a:r>
              <a:rPr sz="1350" b="1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스레드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동기화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및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Delta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Time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적용 완료.</a:t>
            </a:r>
            <a:endParaRPr sz="135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기능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구현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(70%):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재난/혼잡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이벤트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기능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구현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완료.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0" dirty="0"/>
              <a:t> </a:t>
            </a:r>
            <a:r>
              <a:rPr dirty="0"/>
              <a:t>세부</a:t>
            </a:r>
            <a:r>
              <a:rPr spc="-30" dirty="0"/>
              <a:t> </a:t>
            </a:r>
            <a:r>
              <a:rPr spc="-25" dirty="0"/>
              <a:t>진척도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81025" y="1257300"/>
            <a:ext cx="11029950" cy="4032885"/>
            <a:chOff x="581025" y="1257300"/>
            <a:chExt cx="11029950" cy="4032885"/>
          </a:xfrm>
        </p:grpSpPr>
        <p:sp>
          <p:nvSpPr>
            <p:cNvPr id="7" name="object 7"/>
            <p:cNvSpPr/>
            <p:nvPr/>
          </p:nvSpPr>
          <p:spPr>
            <a:xfrm>
              <a:off x="581025" y="1257300"/>
              <a:ext cx="11029950" cy="19050"/>
            </a:xfrm>
            <a:custGeom>
              <a:avLst/>
              <a:gdLst/>
              <a:ahLst/>
              <a:cxnLst/>
              <a:rect l="l" t="t" r="r" b="b"/>
              <a:pathLst>
                <a:path w="11029950" h="19050">
                  <a:moveTo>
                    <a:pt x="11029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19049"/>
                  </a:lnTo>
                  <a:close/>
                </a:path>
              </a:pathLst>
            </a:custGeom>
            <a:solidFill>
              <a:srgbClr val="40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1440" y="2883247"/>
              <a:ext cx="133497" cy="1894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1440" y="3622327"/>
              <a:ext cx="133497" cy="1894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1440" y="4361407"/>
              <a:ext cx="133497" cy="1894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1440" y="5100488"/>
              <a:ext cx="133497" cy="189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773545"/>
            <a:chOff x="0" y="0"/>
            <a:chExt cx="12192000" cy="6773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7731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4126100"/>
              <a:ext cx="3990974" cy="14725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4125" y="1657350"/>
              <a:ext cx="5276849" cy="46196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8324" y="1633982"/>
            <a:ext cx="2936875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시각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요소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범례</a:t>
            </a:r>
            <a:endParaRPr sz="2100" dirty="0">
              <a:latin typeface="Source Han Sans KR"/>
              <a:cs typeface="Source Han Sans KR"/>
            </a:endParaRPr>
          </a:p>
          <a:p>
            <a:pPr marL="298450">
              <a:lnSpc>
                <a:spcPct val="100000"/>
              </a:lnSpc>
              <a:spcBef>
                <a:spcPts val="1560"/>
              </a:spcBef>
            </a:pPr>
            <a:r>
              <a:rPr sz="1350" b="1" dirty="0">
                <a:solidFill>
                  <a:srgbClr val="FF1744"/>
                </a:solidFill>
                <a:latin typeface="Source Han Sans KR"/>
                <a:cs typeface="Source Han Sans KR"/>
              </a:rPr>
              <a:t>적색 실선: 차단 도로 (무한 </a:t>
            </a:r>
            <a:r>
              <a:rPr sz="1350" b="1" spc="-20" dirty="0">
                <a:solidFill>
                  <a:srgbClr val="FF1744"/>
                </a:solidFill>
                <a:latin typeface="Source Han Sans KR"/>
                <a:cs typeface="Source Han Sans KR"/>
              </a:rPr>
              <a:t>가중치)</a:t>
            </a:r>
            <a:endParaRPr sz="1350" dirty="0">
              <a:latin typeface="Source Han Sans KR"/>
              <a:cs typeface="Source Han Sans KR"/>
            </a:endParaRPr>
          </a:p>
          <a:p>
            <a:pPr marL="298450" marR="5080">
              <a:lnSpc>
                <a:spcPct val="225900"/>
              </a:lnSpc>
            </a:pPr>
            <a:r>
              <a:rPr sz="1350" b="1" dirty="0">
                <a:solidFill>
                  <a:srgbClr val="FFB74D"/>
                </a:solidFill>
                <a:latin typeface="Source Han Sans KR"/>
                <a:cs typeface="Source Han Sans KR"/>
              </a:rPr>
              <a:t>황색 점선: 혼잡 구간 (높은 </a:t>
            </a:r>
            <a:r>
              <a:rPr sz="1350" b="1" spc="-20" dirty="0">
                <a:solidFill>
                  <a:srgbClr val="FFB74D"/>
                </a:solidFill>
                <a:latin typeface="Source Han Sans KR"/>
                <a:cs typeface="Source Han Sans KR"/>
              </a:rPr>
              <a:t>가중치) </a:t>
            </a:r>
            <a:r>
              <a:rPr sz="1350" b="1" dirty="0">
                <a:solidFill>
                  <a:srgbClr val="00E676"/>
                </a:solidFill>
                <a:latin typeface="Source Han Sans KR"/>
                <a:cs typeface="Source Han Sans KR"/>
              </a:rPr>
              <a:t>녹색 노드: 구급차 (경로 </a:t>
            </a:r>
            <a:r>
              <a:rPr sz="1350" b="1" spc="-20" dirty="0">
                <a:solidFill>
                  <a:srgbClr val="00E676"/>
                </a:solidFill>
                <a:latin typeface="Source Han Sans KR"/>
                <a:cs typeface="Source Han Sans KR"/>
              </a:rPr>
              <a:t>우선권) </a:t>
            </a:r>
            <a:endParaRPr lang="en-US" sz="1350" b="1" spc="-20" dirty="0">
              <a:solidFill>
                <a:srgbClr val="00E676"/>
              </a:solidFill>
              <a:latin typeface="Source Han Sans KR"/>
              <a:cs typeface="Source Han Sans KR"/>
            </a:endParaRPr>
          </a:p>
          <a:p>
            <a:pPr marL="298450" marR="5080">
              <a:lnSpc>
                <a:spcPct val="225900"/>
              </a:lnSpc>
            </a:pPr>
            <a:r>
              <a:rPr sz="1350" b="1" dirty="0" err="1">
                <a:solidFill>
                  <a:srgbClr val="2978FF"/>
                </a:solidFill>
                <a:latin typeface="Source Han Sans KR"/>
                <a:cs typeface="Source Han Sans KR"/>
              </a:rPr>
              <a:t>청색</a:t>
            </a:r>
            <a:r>
              <a:rPr sz="1350" b="1" dirty="0">
                <a:solidFill>
                  <a:srgbClr val="2978FF"/>
                </a:solidFill>
                <a:latin typeface="Source Han Sans KR"/>
                <a:cs typeface="Source Han Sans KR"/>
              </a:rPr>
              <a:t> 노드: 일반 </a:t>
            </a:r>
            <a:r>
              <a:rPr sz="1350" b="1" spc="-25" dirty="0">
                <a:solidFill>
                  <a:srgbClr val="2978FF"/>
                </a:solidFill>
                <a:latin typeface="Source Han Sans KR"/>
                <a:cs typeface="Source Han Sans KR"/>
              </a:rPr>
              <a:t>차량</a:t>
            </a:r>
            <a:endParaRPr sz="1350" dirty="0">
              <a:latin typeface="Source Han Sans KR"/>
              <a:cs typeface="Source Han Sans K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825" y="4297814"/>
            <a:ext cx="3348354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Source Han Sans KR"/>
                <a:cs typeface="Source Han Sans KR"/>
              </a:rPr>
              <a:t>제어 패널 </a:t>
            </a:r>
            <a:r>
              <a:rPr sz="1200" b="1" spc="-25" dirty="0">
                <a:solidFill>
                  <a:srgbClr val="FFFFFF"/>
                </a:solidFill>
                <a:latin typeface="Source Han Sans KR"/>
                <a:cs typeface="Source Han Sans KR"/>
              </a:rPr>
              <a:t>기능</a:t>
            </a:r>
            <a:endParaRPr sz="120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505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알고리즘 선택, 차량 생성, 시뮬레이션 속도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제어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기능을 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제공함.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50" dirty="0"/>
              <a:t> </a:t>
            </a:r>
            <a:r>
              <a:rPr dirty="0"/>
              <a:t>시스템</a:t>
            </a:r>
            <a:r>
              <a:rPr spc="-50" dirty="0"/>
              <a:t> </a:t>
            </a:r>
            <a:r>
              <a:rPr dirty="0"/>
              <a:t>시연</a:t>
            </a:r>
            <a:r>
              <a:rPr spc="-45" dirty="0"/>
              <a:t> </a:t>
            </a:r>
            <a:r>
              <a:rPr spc="-25" dirty="0"/>
              <a:t>화면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81025" y="1257300"/>
            <a:ext cx="11029950" cy="4597400"/>
            <a:chOff x="581025" y="1257300"/>
            <a:chExt cx="11029950" cy="4597400"/>
          </a:xfrm>
        </p:grpSpPr>
        <p:sp>
          <p:nvSpPr>
            <p:cNvPr id="11" name="object 11"/>
            <p:cNvSpPr/>
            <p:nvPr/>
          </p:nvSpPr>
          <p:spPr>
            <a:xfrm>
              <a:off x="581025" y="1257300"/>
              <a:ext cx="11029950" cy="19050"/>
            </a:xfrm>
            <a:custGeom>
              <a:avLst/>
              <a:gdLst/>
              <a:ahLst/>
              <a:cxnLst/>
              <a:rect l="l" t="t" r="r" b="b"/>
              <a:pathLst>
                <a:path w="11029950" h="19050">
                  <a:moveTo>
                    <a:pt x="11029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19049"/>
                  </a:lnTo>
                  <a:close/>
                </a:path>
              </a:pathLst>
            </a:custGeom>
            <a:solidFill>
              <a:srgbClr val="40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2171700"/>
              <a:ext cx="133497" cy="2000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2636490"/>
              <a:ext cx="133497" cy="200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3101280"/>
              <a:ext cx="133497" cy="2000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5" y="3566070"/>
              <a:ext cx="133497" cy="200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2550" y="1666875"/>
              <a:ext cx="6378899" cy="41872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2927002"/>
              <a:ext cx="5276849" cy="208016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4125" y="2789932"/>
            <a:ext cx="5276849" cy="2354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3600" y="3198909"/>
            <a:ext cx="465074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측정</a:t>
            </a:r>
            <a:r>
              <a:rPr sz="2100" b="1" spc="-3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환경</a:t>
            </a:r>
            <a:r>
              <a:rPr sz="2100" b="1" spc="-3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및</a:t>
            </a:r>
            <a:r>
              <a:rPr sz="2100" b="1" spc="-3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대상</a:t>
            </a:r>
            <a:endParaRPr sz="2100">
              <a:latin typeface="Source Han Sans KR"/>
              <a:cs typeface="Source Han Sans KR"/>
            </a:endParaRPr>
          </a:p>
          <a:p>
            <a:pPr marL="449580" indent="-113030">
              <a:lnSpc>
                <a:spcPct val="100000"/>
              </a:lnSpc>
              <a:spcBef>
                <a:spcPts val="1560"/>
              </a:spcBef>
              <a:buFont typeface="Source Han Sans KR"/>
              <a:buChar char="•"/>
              <a:tabLst>
                <a:tab pos="449580" algn="l"/>
              </a:tabLst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규모: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차량 20대 이상 동시 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시뮬레이션.</a:t>
            </a:r>
            <a:endParaRPr sz="1350">
              <a:latin typeface="Source Han Sans KR"/>
              <a:cs typeface="Source Han Sans KR"/>
            </a:endParaRPr>
          </a:p>
          <a:p>
            <a:pPr marL="449580" indent="-113030">
              <a:lnSpc>
                <a:spcPct val="100000"/>
              </a:lnSpc>
              <a:spcBef>
                <a:spcPts val="540"/>
              </a:spcBef>
              <a:buFont typeface="Source Han Sans KR"/>
              <a:buChar char="•"/>
              <a:tabLst>
                <a:tab pos="449580" algn="l"/>
              </a:tabLst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시나리오: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도로 차단 이벤트 발생 시 실시간 경로 재계산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부하</a:t>
            </a:r>
            <a:endParaRPr sz="1350">
              <a:latin typeface="Source Han Sans KR"/>
              <a:cs typeface="Source Han Sans KR"/>
            </a:endParaRPr>
          </a:p>
          <a:p>
            <a:pPr marL="450850">
              <a:lnSpc>
                <a:spcPct val="100000"/>
              </a:lnSpc>
              <a:spcBef>
                <a:spcPts val="969"/>
              </a:spcBef>
            </a:pP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테스트.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6700" y="3061839"/>
            <a:ext cx="4508500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핵심</a:t>
            </a:r>
            <a:r>
              <a:rPr sz="2100" b="1" spc="-3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지표</a:t>
            </a:r>
            <a:r>
              <a:rPr sz="2100" b="1" spc="-3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및</a:t>
            </a:r>
            <a:r>
              <a:rPr sz="2100" b="1" spc="-3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결과</a:t>
            </a:r>
            <a:endParaRPr sz="2100" dirty="0">
              <a:latin typeface="Source Han Sans KR"/>
              <a:cs typeface="Source Han Sans KR"/>
            </a:endParaRPr>
          </a:p>
          <a:p>
            <a:pPr marL="449580" indent="-113030">
              <a:lnSpc>
                <a:spcPct val="100000"/>
              </a:lnSpc>
              <a:spcBef>
                <a:spcPts val="1560"/>
              </a:spcBef>
              <a:buClr>
                <a:srgbClr val="BDBDBD"/>
              </a:buClr>
              <a:buFont typeface="Source Han Sans KR"/>
              <a:buChar char="•"/>
              <a:tabLst>
                <a:tab pos="449580" algn="l"/>
              </a:tabLst>
            </a:pPr>
            <a:r>
              <a:rPr sz="1350" b="1" dirty="0">
                <a:solidFill>
                  <a:srgbClr val="00E676"/>
                </a:solidFill>
                <a:latin typeface="Source Han Sans KR"/>
                <a:cs typeface="Source Han Sans KR"/>
              </a:rPr>
              <a:t>연산</a:t>
            </a:r>
            <a:r>
              <a:rPr sz="1350" b="1" spc="-10" dirty="0">
                <a:solidFill>
                  <a:srgbClr val="00E676"/>
                </a:solidFill>
                <a:latin typeface="Source Han Sans KR"/>
                <a:cs typeface="Source Han Sans KR"/>
              </a:rPr>
              <a:t> </a:t>
            </a:r>
            <a:r>
              <a:rPr sz="1350" b="1" dirty="0">
                <a:solidFill>
                  <a:srgbClr val="00E676"/>
                </a:solidFill>
                <a:latin typeface="Source Han Sans KR"/>
                <a:cs typeface="Source Han Sans KR"/>
              </a:rPr>
              <a:t>효율:</a:t>
            </a:r>
            <a:r>
              <a:rPr sz="1350" b="1" spc="-10" dirty="0">
                <a:solidFill>
                  <a:srgbClr val="00E676"/>
                </a:solidFill>
                <a:latin typeface="Source Han Sans KR"/>
                <a:cs typeface="Source Han Sans KR"/>
              </a:rPr>
              <a:t> 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Reverse Edge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캐싱을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통해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프레임당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탐색</a:t>
            </a:r>
            <a:endParaRPr sz="1350" dirty="0">
              <a:latin typeface="Source Han Sans KR"/>
              <a:cs typeface="Source Han Sans K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67550" y="3909183"/>
            <a:ext cx="22879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복잡도를</a:t>
            </a:r>
            <a:r>
              <a:rPr sz="1350" spc="-3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O(N)에서</a:t>
            </a:r>
            <a:r>
              <a:rPr sz="1350" spc="-3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O(1)로</a:t>
            </a:r>
            <a:r>
              <a:rPr sz="1350" spc="-3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감소.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3250" y="4128579"/>
            <a:ext cx="4508500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100"/>
              </a:spcBef>
              <a:buClr>
                <a:srgbClr val="BDBDBD"/>
              </a:buClr>
              <a:buFont typeface="Source Han Sans KR"/>
              <a:buChar char="•"/>
              <a:tabLst>
                <a:tab pos="113030" algn="l"/>
              </a:tabLst>
            </a:pPr>
            <a:r>
              <a:rPr sz="1350" b="1" dirty="0">
                <a:solidFill>
                  <a:srgbClr val="00E676"/>
                </a:solidFill>
                <a:latin typeface="Source Han Sans KR"/>
                <a:cs typeface="Source Han Sans KR"/>
              </a:rPr>
              <a:t>안정성:</a:t>
            </a:r>
            <a:r>
              <a:rPr sz="1350" b="1" spc="-25" dirty="0">
                <a:solidFill>
                  <a:srgbClr val="00E676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Delta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Time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적용으로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과부하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시에도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프레임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레이트</a:t>
            </a:r>
            <a:endParaRPr sz="1350" dirty="0">
              <a:latin typeface="Source Han Sans KR"/>
              <a:cs typeface="Source Han Sans KR"/>
            </a:endParaRPr>
          </a:p>
          <a:p>
            <a:pPr marL="114300">
              <a:lnSpc>
                <a:spcPct val="100000"/>
              </a:lnSpc>
              <a:spcBef>
                <a:spcPts val="969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독립적인 일관된 이동 속도를 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유지함.</a:t>
            </a:r>
            <a:endParaRPr sz="1350" dirty="0">
              <a:latin typeface="Source Han Sans KR"/>
              <a:cs typeface="Source Han Sans KR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40" dirty="0"/>
              <a:t> </a:t>
            </a:r>
            <a:r>
              <a:rPr dirty="0"/>
              <a:t>성능</a:t>
            </a:r>
            <a:r>
              <a:rPr spc="-35" dirty="0"/>
              <a:t> </a:t>
            </a:r>
            <a:r>
              <a:rPr dirty="0"/>
              <a:t>측정</a:t>
            </a:r>
            <a:r>
              <a:rPr spc="-35" dirty="0"/>
              <a:t> </a:t>
            </a:r>
            <a:r>
              <a:rPr dirty="0"/>
              <a:t>및</a:t>
            </a:r>
            <a:r>
              <a:rPr spc="-35" dirty="0"/>
              <a:t> </a:t>
            </a:r>
            <a:r>
              <a:rPr spc="-25" dirty="0"/>
              <a:t>분석</a:t>
            </a:r>
          </a:p>
        </p:txBody>
      </p:sp>
      <p:sp>
        <p:nvSpPr>
          <p:cNvPr id="11" name="object 11"/>
          <p:cNvSpPr/>
          <p:nvPr/>
        </p:nvSpPr>
        <p:spPr>
          <a:xfrm>
            <a:off x="581025" y="1257300"/>
            <a:ext cx="11029950" cy="19050"/>
          </a:xfrm>
          <a:custGeom>
            <a:avLst/>
            <a:gdLst/>
            <a:ahLst/>
            <a:cxnLst/>
            <a:rect l="l" t="t" r="r" b="b"/>
            <a:pathLst>
              <a:path w="11029950" h="19050">
                <a:moveTo>
                  <a:pt x="1102994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19049"/>
                </a:lnTo>
                <a:close/>
              </a:path>
            </a:pathLst>
          </a:custGeom>
          <a:solidFill>
            <a:srgbClr val="40C4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657350"/>
            <a:ext cx="5276849" cy="4619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모듈</a:t>
            </a:r>
            <a:r>
              <a:rPr spc="-40" dirty="0"/>
              <a:t> </a:t>
            </a:r>
            <a:r>
              <a:rPr spc="-25" dirty="0"/>
              <a:t>구조</a:t>
            </a:r>
          </a:p>
          <a:p>
            <a:pPr marL="12700" marR="516890">
              <a:lnSpc>
                <a:spcPct val="160000"/>
              </a:lnSpc>
              <a:spcBef>
                <a:spcPts val="735"/>
              </a:spcBef>
            </a:pP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시스템은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전략</a:t>
            </a:r>
            <a:r>
              <a:rPr sz="1350" b="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패턴을</a:t>
            </a:r>
            <a:r>
              <a:rPr sz="1350" b="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기반으로</a:t>
            </a:r>
            <a:r>
              <a:rPr sz="1350" b="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경로</a:t>
            </a:r>
            <a:r>
              <a:rPr sz="1350" b="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탐색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알고리즘(Dijkstra,</a:t>
            </a:r>
            <a:r>
              <a:rPr sz="1350" b="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A*)을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유연하게 교체할 수 있도록 </a:t>
            </a:r>
            <a:r>
              <a:rPr sz="1350" b="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설계.</a:t>
            </a:r>
            <a:endParaRPr sz="135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635"/>
              </a:spcBef>
            </a:pP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SimulationEngine이</a:t>
            </a:r>
            <a:r>
              <a:rPr sz="1350" b="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핵심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데이터(Node,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Edges,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Cars)를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관리하며</a:t>
            </a:r>
            <a:r>
              <a:rPr sz="1350" b="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b="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UI와 </a:t>
            </a:r>
            <a:r>
              <a:rPr sz="1350" b="0" dirty="0">
                <a:solidFill>
                  <a:srgbClr val="BDBDBD"/>
                </a:solidFill>
                <a:latin typeface="Source Han Sans KR"/>
                <a:cs typeface="Source Han Sans KR"/>
              </a:rPr>
              <a:t>로직을 분리하는 책임 구조를 </a:t>
            </a:r>
            <a:r>
              <a:rPr sz="1350" b="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가짐.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30" dirty="0"/>
              <a:t> </a:t>
            </a:r>
            <a:r>
              <a:rPr dirty="0"/>
              <a:t>UML:</a:t>
            </a:r>
            <a:r>
              <a:rPr spc="-30" dirty="0"/>
              <a:t> </a:t>
            </a:r>
            <a:r>
              <a:rPr dirty="0"/>
              <a:t>클래스</a:t>
            </a:r>
            <a:r>
              <a:rPr spc="-30" dirty="0"/>
              <a:t> </a:t>
            </a:r>
            <a:r>
              <a:rPr spc="-10" dirty="0"/>
              <a:t>다이어그램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81025" y="1257300"/>
            <a:ext cx="11126470" cy="5086350"/>
            <a:chOff x="581025" y="1257300"/>
            <a:chExt cx="11126470" cy="5086350"/>
          </a:xfrm>
        </p:grpSpPr>
        <p:sp>
          <p:nvSpPr>
            <p:cNvPr id="6" name="object 6"/>
            <p:cNvSpPr/>
            <p:nvPr/>
          </p:nvSpPr>
          <p:spPr>
            <a:xfrm>
              <a:off x="581025" y="1257300"/>
              <a:ext cx="11029950" cy="19050"/>
            </a:xfrm>
            <a:custGeom>
              <a:avLst/>
              <a:gdLst/>
              <a:ahLst/>
              <a:cxnLst/>
              <a:rect l="l" t="t" r="r" b="b"/>
              <a:pathLst>
                <a:path w="11029950" h="19050">
                  <a:moveTo>
                    <a:pt x="11029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19049"/>
                  </a:lnTo>
                  <a:close/>
                </a:path>
              </a:pathLst>
            </a:custGeom>
            <a:solidFill>
              <a:srgbClr val="40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7075" y="1590675"/>
              <a:ext cx="5640378" cy="4752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3150" y="0"/>
            <a:ext cx="12059285" cy="6858000"/>
            <a:chOff x="133150" y="0"/>
            <a:chExt cx="1205928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150" y="0"/>
              <a:ext cx="12058849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" y="1657350"/>
              <a:ext cx="5276849" cy="46196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321425" y="1633982"/>
            <a:ext cx="4802505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경로</a:t>
            </a:r>
            <a:r>
              <a:rPr sz="2100" b="1" spc="-5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재계산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비동기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흐름</a:t>
            </a:r>
            <a:endParaRPr sz="210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735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도로 차단 이벤트 발생 시, 스레드 안정성 확보를 위해 상태를 캡처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후,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백그라운드에서 경로를 재계산하는 비동기 흐름을 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나타냄.</a:t>
            </a:r>
            <a:endParaRPr sz="1350">
              <a:latin typeface="Source Han Sans KR"/>
              <a:cs typeface="Source Han Sans KR"/>
            </a:endParaRPr>
          </a:p>
          <a:p>
            <a:pPr marL="535940" indent="-285115">
              <a:lnSpc>
                <a:spcPct val="100000"/>
              </a:lnSpc>
              <a:spcBef>
                <a:spcPts val="1610"/>
              </a:spcBef>
              <a:buAutoNum type="arabicPeriod"/>
              <a:tabLst>
                <a:tab pos="535940" algn="l"/>
              </a:tabLst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사용자 이벤트 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트리거.</a:t>
            </a:r>
            <a:endParaRPr sz="1350">
              <a:latin typeface="Source Han Sans KR"/>
              <a:cs typeface="Source Han Sans KR"/>
            </a:endParaRPr>
          </a:p>
          <a:p>
            <a:pPr marL="535940" indent="-28511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535940" algn="l"/>
              </a:tabLst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엔진이 상태 스냅샷을 캡처(메인 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스레드).</a:t>
            </a:r>
            <a:endParaRPr sz="1350">
              <a:latin typeface="Source Han Sans KR"/>
              <a:cs typeface="Source Han Sans KR"/>
            </a:endParaRPr>
          </a:p>
          <a:p>
            <a:pPr marL="535940" indent="-28511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535940" algn="l"/>
              </a:tabLst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백그라운드 스레드에서 새로운 경로 계산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실행.</a:t>
            </a:r>
            <a:endParaRPr sz="1350">
              <a:latin typeface="Source Han Sans KR"/>
              <a:cs typeface="Source Han Sans KR"/>
            </a:endParaRPr>
          </a:p>
          <a:p>
            <a:pPr marL="250825">
              <a:lnSpc>
                <a:spcPct val="100000"/>
              </a:lnSpc>
              <a:spcBef>
                <a:spcPts val="540"/>
              </a:spcBef>
              <a:tabLst>
                <a:tab pos="535940" algn="l"/>
              </a:tabLst>
            </a:pPr>
            <a:r>
              <a:rPr sz="1350" spc="-50" dirty="0">
                <a:solidFill>
                  <a:srgbClr val="BDBDBD"/>
                </a:solidFill>
                <a:latin typeface="Source Han Sans KR"/>
                <a:cs typeface="Source Han Sans KR"/>
              </a:rPr>
              <a:t>4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	메인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스레드가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최종 경로로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UI 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업데이트.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30" dirty="0"/>
              <a:t> </a:t>
            </a:r>
            <a:r>
              <a:rPr dirty="0"/>
              <a:t>UML:</a:t>
            </a:r>
            <a:r>
              <a:rPr spc="-30" dirty="0"/>
              <a:t> </a:t>
            </a:r>
            <a:r>
              <a:rPr dirty="0"/>
              <a:t>시퀀스</a:t>
            </a:r>
            <a:r>
              <a:rPr spc="-30" dirty="0"/>
              <a:t> </a:t>
            </a:r>
            <a:r>
              <a:rPr spc="-10" dirty="0"/>
              <a:t>다이어그램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49900" y="1257300"/>
            <a:ext cx="11361420" cy="4618355"/>
            <a:chOff x="249900" y="1257300"/>
            <a:chExt cx="11361420" cy="4618355"/>
          </a:xfrm>
        </p:grpSpPr>
        <p:sp>
          <p:nvSpPr>
            <p:cNvPr id="9" name="object 9"/>
            <p:cNvSpPr/>
            <p:nvPr/>
          </p:nvSpPr>
          <p:spPr>
            <a:xfrm>
              <a:off x="581025" y="1257300"/>
              <a:ext cx="11029950" cy="19050"/>
            </a:xfrm>
            <a:custGeom>
              <a:avLst/>
              <a:gdLst/>
              <a:ahLst/>
              <a:cxnLst/>
              <a:rect l="l" t="t" r="r" b="b"/>
              <a:pathLst>
                <a:path w="11029950" h="19050">
                  <a:moveTo>
                    <a:pt x="110299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029949" y="0"/>
                  </a:lnTo>
                  <a:lnTo>
                    <a:pt x="11029949" y="19049"/>
                  </a:lnTo>
                  <a:close/>
                </a:path>
              </a:pathLst>
            </a:custGeom>
            <a:solidFill>
              <a:srgbClr val="40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900" y="1474525"/>
              <a:ext cx="5835850" cy="4400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657350"/>
            <a:ext cx="5276849" cy="412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1657350"/>
            <a:ext cx="5276849" cy="412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1952625"/>
            <a:ext cx="296464" cy="380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600" y="2500757"/>
            <a:ext cx="4544695" cy="280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이슈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#1:</a:t>
            </a:r>
            <a:r>
              <a:rPr sz="2100" b="1" spc="-4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스레드</a:t>
            </a:r>
            <a:r>
              <a:rPr sz="2100" b="1" spc="-4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동기화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오류</a:t>
            </a:r>
            <a:endParaRPr sz="2100">
              <a:latin typeface="Source Han Sans KR"/>
              <a:cs typeface="Source Han Sans KR"/>
            </a:endParaRPr>
          </a:p>
          <a:p>
            <a:pPr marL="12700" marR="1382395">
              <a:lnSpc>
                <a:spcPct val="160000"/>
              </a:lnSpc>
              <a:spcBef>
                <a:spcPts val="735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증상:</a:t>
            </a:r>
            <a:r>
              <a:rPr sz="1350" b="1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백그라운드 스레드에서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UI 상태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참조 </a:t>
            </a:r>
            <a:r>
              <a:rPr sz="1350" spc="-50" dirty="0">
                <a:solidFill>
                  <a:srgbClr val="BDBDBD"/>
                </a:solidFill>
                <a:latin typeface="Source Han Sans KR"/>
                <a:cs typeface="Source Han Sans KR"/>
              </a:rPr>
              <a:t>시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IllegalStateException</a:t>
            </a:r>
            <a:r>
              <a:rPr sz="1350" spc="6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발생.</a:t>
            </a:r>
            <a:endParaRPr sz="1350">
              <a:latin typeface="Source Han Sans KR"/>
              <a:cs typeface="Source Han Sans KR"/>
            </a:endParaRPr>
          </a:p>
          <a:p>
            <a:pPr marL="12700" marR="5080">
              <a:lnSpc>
                <a:spcPct val="160000"/>
              </a:lnSpc>
              <a:spcBef>
                <a:spcPts val="484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원인: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UI상태 객체를 백그라운드 스레드에서</a:t>
            </a:r>
            <a:r>
              <a:rPr sz="1350" spc="30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직접 참조하여</a:t>
            </a:r>
            <a:r>
              <a:rPr sz="1350" spc="30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읽는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과정</a:t>
            </a:r>
            <a:r>
              <a:rPr sz="1350" spc="-3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에서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main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thread의</a:t>
            </a:r>
            <a:r>
              <a:rPr sz="1350" spc="-3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SnapShot과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 충돌</a:t>
            </a:r>
            <a:endParaRPr sz="1350">
              <a:latin typeface="Source Han Sans KR"/>
              <a:cs typeface="Source Han Sans KR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Source Han Sans KR"/>
              <a:cs typeface="Source Han Sans KR"/>
            </a:endParaRPr>
          </a:p>
          <a:p>
            <a:pPr marL="12700" marR="69850">
              <a:lnSpc>
                <a:spcPct val="160000"/>
              </a:lnSpc>
              <a:spcBef>
                <a:spcPts val="5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조치:</a:t>
            </a:r>
            <a:r>
              <a:rPr sz="1350" b="1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State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Snapshot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패턴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도입.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불변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데이터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복사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전달을</a:t>
            </a:r>
            <a:r>
              <a:rPr sz="1350" spc="-1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통해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Coroutine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데이터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경합을</a:t>
            </a:r>
            <a:r>
              <a:rPr sz="1350" spc="-1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spc="-20" dirty="0">
                <a:solidFill>
                  <a:srgbClr val="BDBDBD"/>
                </a:solidFill>
                <a:latin typeface="Source Han Sans KR"/>
                <a:cs typeface="Source Han Sans KR"/>
              </a:rPr>
              <a:t>방지..</a:t>
            </a:r>
            <a:endParaRPr sz="1350">
              <a:latin typeface="Source Han Sans KR"/>
              <a:cs typeface="Source Han Sans KR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1952625"/>
            <a:ext cx="296464" cy="380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16700" y="2500757"/>
            <a:ext cx="461391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이슈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#2:</a:t>
            </a:r>
            <a:r>
              <a:rPr sz="2100" b="1" spc="-3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10" dirty="0">
                <a:solidFill>
                  <a:srgbClr val="40C4FF"/>
                </a:solidFill>
                <a:latin typeface="Source Han Sans KR"/>
                <a:cs typeface="Source Han Sans KR"/>
              </a:rPr>
              <a:t>Deadlock</a:t>
            </a:r>
            <a:endParaRPr sz="210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증상: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고정 프레임 방식에서 부하 발생 시 차량 이동이 끊기는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현상.</a:t>
            </a:r>
            <a:endParaRPr sz="1350">
              <a:latin typeface="Source Han Sans KR"/>
              <a:cs typeface="Source Han Sans KR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35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리스크: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모든 경로 차단 될 경우 무한 루프 발생 가능성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있음.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6700" y="4745538"/>
            <a:ext cx="4603115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BDBDBD"/>
                </a:solidFill>
                <a:latin typeface="Source Han Sans KR"/>
                <a:cs typeface="Source Han Sans KR"/>
              </a:rPr>
              <a:t>대응:</a:t>
            </a:r>
            <a:r>
              <a:rPr sz="1350" b="1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경로 탐색 실패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시 대기 상태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전환 OR 차량 소멸</a:t>
            </a:r>
            <a:r>
              <a:rPr sz="1350" spc="-5" dirty="0">
                <a:solidFill>
                  <a:srgbClr val="BDBDBD"/>
                </a:solidFill>
                <a:latin typeface="Source Han Sans KR"/>
                <a:cs typeface="Source Han Sans KR"/>
              </a:rPr>
              <a:t> </a:t>
            </a: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기능 추가 </a:t>
            </a:r>
            <a:r>
              <a:rPr sz="1350" spc="-50" dirty="0">
                <a:solidFill>
                  <a:srgbClr val="BDBDBD"/>
                </a:solidFill>
                <a:latin typeface="Source Han Sans KR"/>
                <a:cs typeface="Source Han Sans KR"/>
              </a:rPr>
              <a:t>후</a:t>
            </a:r>
            <a:endParaRPr sz="1350">
              <a:latin typeface="Source Han Sans KR"/>
              <a:cs typeface="Source Han Sans KR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350" dirty="0">
                <a:solidFill>
                  <a:srgbClr val="BDBDBD"/>
                </a:solidFill>
                <a:latin typeface="Source Han Sans KR"/>
                <a:cs typeface="Source Han Sans KR"/>
              </a:rPr>
              <a:t>예외 </a:t>
            </a:r>
            <a:r>
              <a:rPr sz="1350" spc="-25" dirty="0">
                <a:solidFill>
                  <a:srgbClr val="BDBDBD"/>
                </a:solidFill>
                <a:latin typeface="Source Han Sans KR"/>
                <a:cs typeface="Source Han Sans KR"/>
              </a:rPr>
              <a:t>처리</a:t>
            </a:r>
            <a:endParaRPr sz="1350">
              <a:latin typeface="Source Han Sans KR"/>
              <a:cs typeface="Source Han Sans KR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60" dirty="0"/>
              <a:t> </a:t>
            </a:r>
            <a:r>
              <a:rPr dirty="0"/>
              <a:t>주요</a:t>
            </a:r>
            <a:r>
              <a:rPr spc="-55" dirty="0"/>
              <a:t> </a:t>
            </a:r>
            <a:r>
              <a:rPr dirty="0"/>
              <a:t>이슈</a:t>
            </a:r>
            <a:r>
              <a:rPr spc="-55" dirty="0"/>
              <a:t> </a:t>
            </a:r>
            <a:r>
              <a:rPr dirty="0"/>
              <a:t>및</a:t>
            </a:r>
            <a:r>
              <a:rPr spc="-55" dirty="0"/>
              <a:t> </a:t>
            </a:r>
            <a:r>
              <a:rPr dirty="0"/>
              <a:t>해결책</a:t>
            </a:r>
            <a:r>
              <a:rPr spc="-60" dirty="0"/>
              <a:t> </a:t>
            </a:r>
            <a:r>
              <a:rPr spc="-55" dirty="0"/>
              <a:t>(Top </a:t>
            </a:r>
            <a:r>
              <a:rPr spc="-25" dirty="0"/>
              <a:t>3)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1257300"/>
            <a:ext cx="11029950" cy="19050"/>
          </a:xfrm>
          <a:custGeom>
            <a:avLst/>
            <a:gdLst/>
            <a:ahLst/>
            <a:cxnLst/>
            <a:rect l="l" t="t" r="r" b="b"/>
            <a:pathLst>
              <a:path w="11029950" h="19050">
                <a:moveTo>
                  <a:pt x="1102994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19049"/>
                </a:lnTo>
                <a:close/>
              </a:path>
            </a:pathLst>
          </a:custGeom>
          <a:solidFill>
            <a:srgbClr val="40C4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657350"/>
            <a:ext cx="11029949" cy="1824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672780"/>
            <a:ext cx="11029949" cy="1824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2422177"/>
            <a:ext cx="1022448" cy="295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4437607"/>
            <a:ext cx="1022448" cy="2952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14711" y="2365469"/>
            <a:ext cx="35240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대규모</a:t>
            </a:r>
            <a:r>
              <a:rPr sz="2100" b="1" spc="-4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맵</a:t>
            </a:r>
            <a:r>
              <a:rPr sz="2100" b="1" spc="-4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데이터</a:t>
            </a:r>
            <a:r>
              <a:rPr sz="2100" b="1" spc="-4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로딩</a:t>
            </a:r>
            <a:r>
              <a:rPr sz="2100" b="1" spc="-4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테스트</a:t>
            </a:r>
            <a:endParaRPr sz="2100" dirty="0">
              <a:latin typeface="Source Han Sans KR"/>
              <a:cs typeface="Source Han Sans K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4649" y="4380899"/>
            <a:ext cx="2076351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UI</a:t>
            </a:r>
            <a:r>
              <a:rPr sz="2100" b="1" spc="-15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개선</a:t>
            </a:r>
            <a:r>
              <a:rPr sz="2100" b="1" spc="4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고도화</a:t>
            </a:r>
            <a:endParaRPr sz="2100" dirty="0">
              <a:latin typeface="Source Han Sans KR"/>
              <a:cs typeface="Source Han Sans KR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40" dirty="0"/>
              <a:t> </a:t>
            </a:r>
            <a:r>
              <a:rPr dirty="0"/>
              <a:t>남은</a:t>
            </a:r>
            <a:r>
              <a:rPr spc="-40" dirty="0"/>
              <a:t> </a:t>
            </a:r>
            <a:r>
              <a:rPr dirty="0"/>
              <a:t>과정</a:t>
            </a:r>
            <a:r>
              <a:rPr spc="-40" dirty="0"/>
              <a:t> </a:t>
            </a:r>
            <a:r>
              <a:rPr spc="-10" dirty="0"/>
              <a:t>(Priorities)</a:t>
            </a:r>
          </a:p>
        </p:txBody>
      </p:sp>
      <p:sp>
        <p:nvSpPr>
          <p:cNvPr id="9" name="object 9"/>
          <p:cNvSpPr/>
          <p:nvPr/>
        </p:nvSpPr>
        <p:spPr>
          <a:xfrm>
            <a:off x="581025" y="1257300"/>
            <a:ext cx="11029950" cy="19050"/>
          </a:xfrm>
          <a:custGeom>
            <a:avLst/>
            <a:gdLst/>
            <a:ahLst/>
            <a:cxnLst/>
            <a:rect l="l" t="t" r="r" b="b"/>
            <a:pathLst>
              <a:path w="11029950" h="19050">
                <a:moveTo>
                  <a:pt x="1102994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19049"/>
                </a:lnTo>
                <a:close/>
              </a:path>
            </a:pathLst>
          </a:custGeom>
          <a:solidFill>
            <a:srgbClr val="40C4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657350"/>
            <a:ext cx="3486149" cy="29640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925" y="1657350"/>
            <a:ext cx="3486149" cy="29640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4825" y="1657350"/>
            <a:ext cx="3486149" cy="29640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6300" y="1952625"/>
            <a:ext cx="296464" cy="380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3600" y="2500757"/>
            <a:ext cx="2032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코드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디버깅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지원</a:t>
            </a:r>
            <a:endParaRPr sz="2100" dirty="0">
              <a:latin typeface="Source Han Sans KR"/>
              <a:cs typeface="Source Han Sans KR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0" y="1952625"/>
            <a:ext cx="296464" cy="3809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5500" y="2500757"/>
            <a:ext cx="2755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UML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다이어그램</a:t>
            </a:r>
            <a:r>
              <a:rPr sz="2100" b="1" spc="-5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작성</a:t>
            </a:r>
            <a:endParaRPr sz="2100" dirty="0">
              <a:latin typeface="Source Han Sans KR"/>
              <a:cs typeface="Source Han Sans KR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0100" y="1952625"/>
            <a:ext cx="296464" cy="380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07400" y="2500757"/>
            <a:ext cx="15748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0C4FF"/>
                </a:solidFill>
                <a:latin typeface="Source Han Sans KR"/>
                <a:cs typeface="Source Han Sans KR"/>
              </a:rPr>
              <a:t>문서화</a:t>
            </a:r>
            <a:r>
              <a:rPr sz="2100" b="1" spc="-60" dirty="0">
                <a:solidFill>
                  <a:srgbClr val="40C4FF"/>
                </a:solidFill>
                <a:latin typeface="Source Han Sans KR"/>
                <a:cs typeface="Source Han Sans KR"/>
              </a:rPr>
              <a:t> </a:t>
            </a:r>
            <a:r>
              <a:rPr sz="2100" b="1" spc="-25" dirty="0">
                <a:solidFill>
                  <a:srgbClr val="40C4FF"/>
                </a:solidFill>
                <a:latin typeface="Source Han Sans KR"/>
                <a:cs typeface="Source Han Sans KR"/>
              </a:rPr>
              <a:t>보조</a:t>
            </a:r>
            <a:endParaRPr sz="2100" dirty="0">
              <a:latin typeface="Source Han Sans KR"/>
              <a:cs typeface="Source Han Sans KR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30" dirty="0"/>
              <a:t> </a:t>
            </a:r>
            <a:r>
              <a:rPr dirty="0"/>
              <a:t>AI</a:t>
            </a:r>
            <a:r>
              <a:rPr spc="-30" dirty="0"/>
              <a:t> </a:t>
            </a:r>
            <a:r>
              <a:rPr dirty="0"/>
              <a:t>사용</a:t>
            </a:r>
            <a:r>
              <a:rPr spc="-30" dirty="0"/>
              <a:t> </a:t>
            </a:r>
            <a:r>
              <a:rPr spc="-25" dirty="0"/>
              <a:t>현황</a:t>
            </a:r>
          </a:p>
        </p:txBody>
      </p:sp>
      <p:sp>
        <p:nvSpPr>
          <p:cNvPr id="12" name="object 12"/>
          <p:cNvSpPr/>
          <p:nvPr/>
        </p:nvSpPr>
        <p:spPr>
          <a:xfrm>
            <a:off x="581025" y="1257300"/>
            <a:ext cx="11029950" cy="19050"/>
          </a:xfrm>
          <a:custGeom>
            <a:avLst/>
            <a:gdLst/>
            <a:ahLst/>
            <a:cxnLst/>
            <a:rect l="l" t="t" r="r" b="b"/>
            <a:pathLst>
              <a:path w="11029950" h="19050">
                <a:moveTo>
                  <a:pt x="1102994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19049"/>
                </a:lnTo>
                <a:close/>
              </a:path>
            </a:pathLst>
          </a:custGeom>
          <a:solidFill>
            <a:srgbClr val="40C4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515</Words>
  <Application>Microsoft Office PowerPoint</Application>
  <PresentationFormat>와이드스크린</PresentationFormat>
  <Paragraphs>65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Source Han Sans KR</vt:lpstr>
      <vt:lpstr>Arial</vt:lpstr>
      <vt:lpstr>Office Theme</vt:lpstr>
      <vt:lpstr>소프트웨어 프로젝트 중간 보고서</vt:lpstr>
      <vt:lpstr>1. 핵심 요약 및 현황</vt:lpstr>
      <vt:lpstr>2. 세부 진척도</vt:lpstr>
      <vt:lpstr>3. 시스템 시연 화면</vt:lpstr>
      <vt:lpstr>4. 성능 측정 및 분석</vt:lpstr>
      <vt:lpstr>5. UML: 클래스 다이어그램</vt:lpstr>
      <vt:lpstr>6. UML: 시퀀스 다이어그램</vt:lpstr>
      <vt:lpstr>7. 주요 이슈 및 해결책 (Top 3)</vt:lpstr>
      <vt:lpstr>8. 남은 과정 (Priorities)</vt:lpstr>
      <vt:lpstr>9. AI 사용 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교통 분석 시스템 중간 보고서</dc:title>
  <cp:lastModifiedBy>seungchan lee</cp:lastModifiedBy>
  <cp:revision>1</cp:revision>
  <dcterms:created xsi:type="dcterms:W3CDTF">2025-12-01T07:29:53Z</dcterms:created>
  <dcterms:modified xsi:type="dcterms:W3CDTF">2025-12-01T14:39:59Z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2025-12-01T00:00:00Z</vt:filetime>
  </property>
</Properties>
</file>